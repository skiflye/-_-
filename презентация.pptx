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63" r:id="rId2"/>
  </p:sldMasterIdLst>
  <p:notesMasterIdLst>
    <p:notesMasterId r:id="rId17"/>
  </p:notesMasterIdLst>
  <p:sldIdLst>
    <p:sldId id="310" r:id="rId3"/>
    <p:sldId id="285" r:id="rId4"/>
    <p:sldId id="286" r:id="rId5"/>
    <p:sldId id="300" r:id="rId6"/>
    <p:sldId id="312" r:id="rId7"/>
    <p:sldId id="314" r:id="rId8"/>
    <p:sldId id="308" r:id="rId9"/>
    <p:sldId id="301" r:id="rId10"/>
    <p:sldId id="307" r:id="rId11"/>
    <p:sldId id="313" r:id="rId12"/>
    <p:sldId id="302" r:id="rId13"/>
    <p:sldId id="315" r:id="rId14"/>
    <p:sldId id="316" r:id="rId15"/>
    <p:sldId id="309" r:id="rId16"/>
  </p:sldIdLst>
  <p:sldSz cx="9144000" cy="5143500" type="screen16x9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ечер Евгений" initials="ВЕ" lastIdx="1" clrIdx="0">
    <p:extLst>
      <p:ext uri="{19B8F6BF-5375-455C-9EA6-DF929625EA0E}">
        <p15:presenceInfo xmlns:p15="http://schemas.microsoft.com/office/powerpoint/2012/main" userId="918fb46b74789f52" providerId="Windows Live"/>
      </p:ext>
    </p:extLst>
  </p:cmAuthor>
  <p:cmAuthor id="2" name="Artem" initials="A" lastIdx="8" clrIdx="1">
    <p:extLst>
      <p:ext uri="{19B8F6BF-5375-455C-9EA6-DF929625EA0E}">
        <p15:presenceInfo xmlns:p15="http://schemas.microsoft.com/office/powerpoint/2012/main" userId="Artem" providerId="None"/>
      </p:ext>
    </p:extLst>
  </p:cmAuthor>
  <p:cmAuthor id="3" name="tokiplay" initials="t" lastIdx="3" clrIdx="2">
    <p:extLst>
      <p:ext uri="{19B8F6BF-5375-455C-9EA6-DF929625EA0E}">
        <p15:presenceInfo xmlns:p15="http://schemas.microsoft.com/office/powerpoint/2012/main" userId="96a573e395af6520" providerId="Windows Live"/>
      </p:ext>
    </p:extLst>
  </p:cmAuthor>
  <p:cmAuthor id="4" name="Андреева Юлия Олеговна" initials="АЮО" lastIdx="6" clrIdx="3">
    <p:extLst>
      <p:ext uri="{19B8F6BF-5375-455C-9EA6-DF929625EA0E}">
        <p15:presenceInfo xmlns:p15="http://schemas.microsoft.com/office/powerpoint/2012/main" userId="S-1-5-21-2803823264-976895225-1840217349-26703" providerId="AD"/>
      </p:ext>
    </p:extLst>
  </p:cmAuthor>
  <p:cmAuthor id="5" name="Microsoft Office User" initials="MOU" lastIdx="1" clrIdx="4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56A8"/>
    <a:srgbClr val="A71FA3"/>
    <a:srgbClr val="6C47F6"/>
    <a:srgbClr val="0166B3"/>
    <a:srgbClr val="1B66B3"/>
    <a:srgbClr val="0095DA"/>
    <a:srgbClr val="76AE27"/>
    <a:srgbClr val="0796BA"/>
    <a:srgbClr val="F59C00"/>
    <a:srgbClr val="890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21" autoAdjust="0"/>
    <p:restoredTop sz="94670"/>
  </p:normalViewPr>
  <p:slideViewPr>
    <p:cSldViewPr>
      <p:cViewPr varScale="1">
        <p:scale>
          <a:sx n="143" d="100"/>
          <a:sy n="143" d="100"/>
        </p:scale>
        <p:origin x="450" y="114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fld id="{D12B95DE-707C-4F0B-ADD6-A229D9D75828}" type="datetimeFigureOut">
              <a:rPr lang="ru-RU"/>
              <a:pPr>
                <a:defRPr/>
              </a:pPr>
              <a:t>16.09.2026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1F4B7F4-843C-4E84-98F6-AEE9401CE27B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8366123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6F33B-C104-4810-B1B9-487C5AA50F76}" type="datetime1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C0A57E3-EA23-4E01-B1DF-72CA8D4A16E5}" type="slidenum">
              <a:rPr lang="ru-RU" altLang="ru-RU"/>
              <a:pPr/>
              <a:t>‹#›</a:t>
            </a:fld>
            <a:endParaRPr lang="ru-RU" alt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56F33B-C104-4810-B1B9-487C5AA50F76}" type="datetime1">
              <a:rPr lang="ru-RU" smtClean="0"/>
              <a:t>16.09.2026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C0A57E3-EA23-4E01-B1DF-72CA8D4A16E5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199484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195486"/>
            <a:ext cx="1042197" cy="455961"/>
          </a:xfrm>
          <a:prstGeom prst="rect">
            <a:avLst/>
          </a:prstGeom>
        </p:spPr>
      </p:pic>
      <p:sp>
        <p:nvSpPr>
          <p:cNvPr id="10" name="Номер слайда 1"/>
          <p:cNvSpPr>
            <a:spLocks noGrp="1"/>
          </p:cNvSpPr>
          <p:nvPr>
            <p:ph type="sldNum" sz="quarter" idx="4"/>
          </p:nvPr>
        </p:nvSpPr>
        <p:spPr>
          <a:xfrm>
            <a:off x="8625296" y="4779963"/>
            <a:ext cx="333400" cy="273844"/>
          </a:xfrm>
          <a:prstGeom prst="rect">
            <a:avLst/>
          </a:prstGeo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‹#›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9486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8DC8E599-69C3-4518-935B-F0F35ABA1306}"/>
              </a:ext>
            </a:extLst>
          </p:cNvPr>
          <p:cNvSpPr txBox="1">
            <a:spLocks/>
          </p:cNvSpPr>
          <p:nvPr/>
        </p:nvSpPr>
        <p:spPr bwMode="auto">
          <a:xfrm>
            <a:off x="251520" y="3075806"/>
            <a:ext cx="775777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/>
            <a:endParaRPr lang="ru-RU" dirty="0"/>
          </a:p>
          <a:p>
            <a:pPr algn="l"/>
            <a:r>
              <a:rPr lang="ru-RU" dirty="0"/>
              <a:t> </a:t>
            </a:r>
            <a:r>
              <a:rPr lang="ru-RU" b="1" dirty="0">
                <a:solidFill>
                  <a:srgbClr val="2E56A8"/>
                </a:solidFill>
              </a:rPr>
              <a:t>«ТЕХНОЛОГИИ БУДУЩЕГО:ПРОЕКТИРУЯ НОВУЮ ЭНЕРГЕТИКУ»</a:t>
            </a:r>
            <a:endParaRPr lang="ru-RU" altLang="ru-RU" sz="4000" b="1" dirty="0">
              <a:solidFill>
                <a:srgbClr val="2E56A8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Подзаголовок 2">
            <a:extLst>
              <a:ext uri="{FF2B5EF4-FFF2-40B4-BE49-F238E27FC236}">
                <a16:creationId xmlns:a16="http://schemas.microsoft.com/office/drawing/2014/main" id="{57C1883F-D119-43B3-916E-93D430E413A9}"/>
              </a:ext>
            </a:extLst>
          </p:cNvPr>
          <p:cNvSpPr txBox="1">
            <a:spLocks/>
          </p:cNvSpPr>
          <p:nvPr/>
        </p:nvSpPr>
        <p:spPr bwMode="auto">
          <a:xfrm>
            <a:off x="251520" y="4554437"/>
            <a:ext cx="2344339" cy="177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>
              <a:buFont typeface="Arial" charset="0"/>
              <a:buNone/>
            </a:pPr>
            <a:r>
              <a:rPr lang="ru-RU" alt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«Название команды»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8CDBAB2-B77E-4F1E-AA36-0893C762E65D}"/>
              </a:ext>
            </a:extLst>
          </p:cNvPr>
          <p:cNvSpPr/>
          <p:nvPr/>
        </p:nvSpPr>
        <p:spPr>
          <a:xfrm>
            <a:off x="5004048" y="4393784"/>
            <a:ext cx="1991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en-US" alt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e-mail</a:t>
            </a:r>
            <a:endParaRPr lang="ru-RU" altLang="ru-RU" sz="1600" spc="20" dirty="0">
              <a:solidFill>
                <a:srgbClr val="2E56A8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B298414F-D590-49C1-9F3F-EB6AE9C45359}"/>
              </a:ext>
            </a:extLst>
          </p:cNvPr>
          <p:cNvSpPr/>
          <p:nvPr/>
        </p:nvSpPr>
        <p:spPr>
          <a:xfrm>
            <a:off x="7169114" y="4393784"/>
            <a:ext cx="19911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buFont typeface="Arial" charset="0"/>
              <a:buNone/>
            </a:pPr>
            <a:r>
              <a:rPr lang="ru-RU" altLang="ru-RU" sz="1600" spc="20" dirty="0">
                <a:solidFill>
                  <a:srgbClr val="2E56A8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телефон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86484"/>
            <a:ext cx="1368152" cy="598567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46" r="29062" b="36527"/>
          <a:stretch/>
        </p:blipFill>
        <p:spPr>
          <a:xfrm>
            <a:off x="6660232" y="1707654"/>
            <a:ext cx="1948095" cy="254466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67494"/>
            <a:ext cx="34956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411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1D26829-74B4-4819-BC82-76B4C96ADE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98" t="29701" r="39723" b="22700"/>
          <a:stretch/>
        </p:blipFill>
        <p:spPr>
          <a:xfrm>
            <a:off x="401442" y="1697427"/>
            <a:ext cx="1728192" cy="1728192"/>
          </a:xfrm>
          <a:prstGeom prst="ellipse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5990225-9EA8-43F7-A0D0-1E00F7CA929A}"/>
              </a:ext>
            </a:extLst>
          </p:cNvPr>
          <p:cNvSpPr/>
          <p:nvPr/>
        </p:nvSpPr>
        <p:spPr>
          <a:xfrm>
            <a:off x="343920" y="3510142"/>
            <a:ext cx="2083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Матвей Никифоров</a:t>
            </a:r>
          </a:p>
          <a:p>
            <a:r>
              <a:rPr lang="ru-RU" sz="12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Капитан команды</a:t>
            </a:r>
            <a:endParaRPr lang="ru-RU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01409290-CF8E-4F7A-8B3F-3A89452FE030}"/>
              </a:ext>
            </a:extLst>
          </p:cNvPr>
          <p:cNvSpPr/>
          <p:nvPr/>
        </p:nvSpPr>
        <p:spPr>
          <a:xfrm>
            <a:off x="343921" y="4086240"/>
            <a:ext cx="182978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Коротко об участнике: какие задачи решал, опыт участия в аналогичных проектах, вклад </a:t>
            </a:r>
          </a:p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 решение кейса</a:t>
            </a:r>
            <a:endParaRPr lang="ru-RU" sz="1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6A11888E-22F9-4B42-AE59-08E77030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979" y="1053678"/>
            <a:ext cx="8613800" cy="600164"/>
          </a:xfrm>
        </p:spPr>
        <p:txBody>
          <a:bodyPr/>
          <a:lstStyle/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None/>
            </a:pPr>
            <a:r>
              <a:rPr lang="ru-RU" altLang="ru-RU" sz="16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Название команды</a:t>
            </a:r>
            <a:r>
              <a:rPr lang="en-US" altLang="ru-RU" sz="16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:</a:t>
            </a:r>
            <a:r>
              <a:rPr lang="ru-RU" altLang="ru-RU" sz="16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 Ом уполномочен говорить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2F20D05-2EAC-456C-ACF7-EFB76AEB8A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98" t="29701" r="39723" b="22700"/>
          <a:stretch/>
        </p:blipFill>
        <p:spPr>
          <a:xfrm>
            <a:off x="2553808" y="1697427"/>
            <a:ext cx="1728192" cy="1728192"/>
          </a:xfrm>
          <a:prstGeom prst="ellipse">
            <a:avLst/>
          </a:prstGeom>
        </p:spPr>
      </p:pic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0D671F29-2B92-40B2-827B-B8CBF4F30D0E}"/>
              </a:ext>
            </a:extLst>
          </p:cNvPr>
          <p:cNvSpPr/>
          <p:nvPr/>
        </p:nvSpPr>
        <p:spPr>
          <a:xfrm>
            <a:off x="2496286" y="3510142"/>
            <a:ext cx="22188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Александр Белоусов</a:t>
            </a:r>
          </a:p>
          <a:p>
            <a:r>
              <a:rPr lang="ru-RU" sz="12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Роль в команде</a:t>
            </a:r>
            <a:endParaRPr lang="ru-RU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33E0750F-F1D8-4569-A63A-0C9350B15A22}"/>
              </a:ext>
            </a:extLst>
          </p:cNvPr>
          <p:cNvSpPr/>
          <p:nvPr/>
        </p:nvSpPr>
        <p:spPr>
          <a:xfrm>
            <a:off x="2496287" y="4086240"/>
            <a:ext cx="182978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Коротко об участнике: какие задачи решал, опыт участия в аналогичных проектах, вклад </a:t>
            </a:r>
          </a:p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 решение кейса</a:t>
            </a:r>
            <a:endParaRPr lang="ru-RU" sz="1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2" name="Рисунок 31">
            <a:extLst>
              <a:ext uri="{FF2B5EF4-FFF2-40B4-BE49-F238E27FC236}">
                <a16:creationId xmlns:a16="http://schemas.microsoft.com/office/drawing/2014/main" id="{8640F9A6-7224-4731-B008-4838C9E2D4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98" t="29701" r="39723" b="22700"/>
          <a:stretch/>
        </p:blipFill>
        <p:spPr>
          <a:xfrm>
            <a:off x="4706174" y="1697427"/>
            <a:ext cx="1728192" cy="1728192"/>
          </a:xfrm>
          <a:prstGeom prst="ellipse">
            <a:avLst/>
          </a:prstGeom>
        </p:spPr>
      </p:pic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B6BA645E-A61F-4C00-BB14-C9AE76BA30EA}"/>
              </a:ext>
            </a:extLst>
          </p:cNvPr>
          <p:cNvSpPr/>
          <p:nvPr/>
        </p:nvSpPr>
        <p:spPr>
          <a:xfrm>
            <a:off x="4648652" y="3510142"/>
            <a:ext cx="16894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Курышкин Глеб</a:t>
            </a:r>
          </a:p>
          <a:p>
            <a:r>
              <a:rPr lang="ru-RU" sz="12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Роль в команде</a:t>
            </a:r>
            <a:endParaRPr lang="ru-RU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ACEBE57-6B88-4E5A-A227-85286B52A1A6}"/>
              </a:ext>
            </a:extLst>
          </p:cNvPr>
          <p:cNvSpPr/>
          <p:nvPr/>
        </p:nvSpPr>
        <p:spPr>
          <a:xfrm>
            <a:off x="4648653" y="4086240"/>
            <a:ext cx="182978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Коротко об участнике: какие задачи решал, опыт участия в аналогичных проектах, вклад </a:t>
            </a:r>
          </a:p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 решение кейса</a:t>
            </a:r>
            <a:endParaRPr lang="ru-RU" sz="1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E06418EC-1279-46CD-A197-EB5EBBFE2C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98" t="29701" r="39723" b="22700"/>
          <a:stretch/>
        </p:blipFill>
        <p:spPr>
          <a:xfrm>
            <a:off x="6858541" y="1697427"/>
            <a:ext cx="1728192" cy="1728192"/>
          </a:xfrm>
          <a:prstGeom prst="ellipse">
            <a:avLst/>
          </a:prstGeom>
        </p:spPr>
      </p:pic>
      <p:sp>
        <p:nvSpPr>
          <p:cNvPr id="37" name="Прямоугольник 36">
            <a:extLst>
              <a:ext uri="{FF2B5EF4-FFF2-40B4-BE49-F238E27FC236}">
                <a16:creationId xmlns:a16="http://schemas.microsoft.com/office/drawing/2014/main" id="{99A16D46-996F-449D-899E-B81131297C11}"/>
              </a:ext>
            </a:extLst>
          </p:cNvPr>
          <p:cNvSpPr/>
          <p:nvPr/>
        </p:nvSpPr>
        <p:spPr>
          <a:xfrm>
            <a:off x="6801019" y="3510142"/>
            <a:ext cx="18627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Демешко Кирилл</a:t>
            </a:r>
          </a:p>
          <a:p>
            <a:r>
              <a:rPr lang="ru-RU" sz="12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Роль в команде</a:t>
            </a:r>
            <a:endParaRPr lang="ru-RU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FA7A0BD3-9F1E-4714-A85F-CE15041055A4}"/>
              </a:ext>
            </a:extLst>
          </p:cNvPr>
          <p:cNvSpPr/>
          <p:nvPr/>
        </p:nvSpPr>
        <p:spPr>
          <a:xfrm>
            <a:off x="6801020" y="4086240"/>
            <a:ext cx="182978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Коротко об участнике: какие задачи решал, опыт участия в аналогичных проектах, вклад </a:t>
            </a:r>
          </a:p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 решение кейса</a:t>
            </a:r>
            <a:endParaRPr lang="ru-RU" sz="1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29E7091B-A51F-1846-A595-0C72EAFF3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920" y="205160"/>
            <a:ext cx="8229600" cy="711703"/>
          </a:xfrm>
        </p:spPr>
        <p:txBody>
          <a:bodyPr anchor="t"/>
          <a:lstStyle/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Команда</a:t>
            </a:r>
          </a:p>
        </p:txBody>
      </p:sp>
      <p:sp>
        <p:nvSpPr>
          <p:cNvPr id="1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2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0698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3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D726EEF2-64B2-46AF-95BB-0D3003553016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4684552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Анализ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11960" y="1635646"/>
            <a:ext cx="4586287" cy="241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360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66700" indent="-26670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13"/>
              </a:spcBef>
              <a:spcAft>
                <a:spcPts val="1213"/>
              </a:spcAft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Анализ исходных данных кейса: ключевые параметры, характеристики, особенности.</a:t>
            </a:r>
          </a:p>
          <a:p>
            <a:pPr eaLnBrk="1" hangingPunct="1">
              <a:lnSpc>
                <a:spcPct val="100000"/>
              </a:lnSpc>
              <a:spcBef>
                <a:spcPts val="1213"/>
              </a:spcBef>
              <a:spcAft>
                <a:spcPts val="1213"/>
              </a:spcAft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Анализ информации, полученной командой при поиске во внешних источниках.</a:t>
            </a:r>
          </a:p>
          <a:p>
            <a:pPr eaLnBrk="1" hangingPunct="1">
              <a:lnSpc>
                <a:spcPct val="100000"/>
              </a:lnSpc>
              <a:spcBef>
                <a:spcPts val="1213"/>
              </a:spcBef>
              <a:spcAft>
                <a:spcPts val="1213"/>
              </a:spcAft>
              <a:buClrTx/>
              <a:buSzTx/>
              <a:buFontTx/>
              <a:buNone/>
            </a:pPr>
            <a:endParaRPr lang="ru-RU" altLang="ru-RU" sz="1800" dirty="0">
              <a:latin typeface="Arial Narrow" panose="020B0606020202030204" pitchFamily="34" charset="0"/>
            </a:endParaRPr>
          </a:p>
          <a:p>
            <a:pPr eaLnBrk="1" hangingPunct="1">
              <a:lnSpc>
                <a:spcPct val="100000"/>
              </a:lnSpc>
              <a:spcBef>
                <a:spcPts val="1213"/>
              </a:spcBef>
              <a:spcAft>
                <a:spcPts val="1213"/>
              </a:spcAft>
              <a:buClrTx/>
              <a:buSzTx/>
              <a:buFontTx/>
              <a:buNone/>
            </a:pPr>
            <a:endParaRPr lang="ru-RU" altLang="ru-RU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941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4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7B960EA7-9CE6-44D5-ADF9-577FCF631BAF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4396520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Анализ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211960" y="1707654"/>
            <a:ext cx="4586288" cy="2416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360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66700" indent="-26670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ts val="1213"/>
              </a:spcBef>
              <a:spcAft>
                <a:spcPts val="1213"/>
              </a:spcAft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Анализ факторов, влияющих </a:t>
            </a:r>
            <a:b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на выбор потенциального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507540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5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5D7EF075-7746-4D96-B950-E419F7C73056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5188608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Решение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211960" y="1707654"/>
            <a:ext cx="4586287" cy="159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360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375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Предложения в проект </a:t>
            </a:r>
            <a:b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по внедрению/использованию новой технологии.</a:t>
            </a:r>
          </a:p>
        </p:txBody>
      </p:sp>
    </p:spTree>
    <p:extLst>
      <p:ext uri="{BB962C8B-B14F-4D97-AF65-F5344CB8AC3E}">
        <p14:creationId xmlns:p14="http://schemas.microsoft.com/office/powerpoint/2010/main" val="379404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6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0A893593-6098-404A-866B-615811D09FFF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5980696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Решение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211960" y="1841996"/>
            <a:ext cx="4586287" cy="159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360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375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Сравнение вариантов решений задания, которые были рассмотрены командой.</a:t>
            </a:r>
          </a:p>
          <a:p>
            <a:pPr eaLnBrk="1">
              <a:lnSpc>
                <a:spcPct val="100000"/>
              </a:lnSpc>
              <a:spcBef>
                <a:spcPts val="375"/>
              </a:spcBef>
              <a:buClrTx/>
              <a:buSzTx/>
              <a:buFontTx/>
              <a:buNone/>
            </a:pPr>
            <a:endParaRPr lang="ru-RU" altLang="ru-RU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84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7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927455C7-6060-4DC3-8085-71D2533F4BDA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4900576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Решение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162177" y="1707654"/>
            <a:ext cx="4586287" cy="159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360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375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Критерии отбора лучшего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3508975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8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927455C7-6060-4DC3-8085-71D2533F4BDA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4900576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Решение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4211960" y="1707654"/>
            <a:ext cx="4601022" cy="159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360">
                <a:solidFill>
                  <a:srgbClr val="3465A4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375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Обоснование, расчёты, характеристики и показатели предлагаемого варианта.</a:t>
            </a:r>
          </a:p>
          <a:p>
            <a:pPr eaLnBrk="1">
              <a:lnSpc>
                <a:spcPct val="100000"/>
              </a:lnSpc>
              <a:spcBef>
                <a:spcPts val="375"/>
              </a:spcBef>
              <a:buClrTx/>
              <a:buSzTx/>
              <a:buFontTx/>
              <a:buNone/>
            </a:pPr>
            <a:endParaRPr lang="ru-RU" altLang="ru-RU" sz="18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1247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9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A845A5C-03E6-4CC9-B9D5-4AC4CC103DFA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6340736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Итоги и результаты внедрения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11960" y="1707654"/>
            <a:ext cx="4793928" cy="921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5000" rIns="90000" bIns="45000">
            <a:spAutoFit/>
          </a:bodyPr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13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Оценка предполагаемого эффекта </a:t>
            </a:r>
            <a:b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 учетом применения предложенного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3033615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4372BDEC-52CD-4904-9C5F-99465694B3EF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5692664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Итоги и результаты внедрения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9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10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11960" y="1707654"/>
            <a:ext cx="4793928" cy="921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5000" rIns="90000" bIns="45000">
            <a:spAutoFit/>
          </a:bodyPr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13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Оценка предполагаемого эффекта </a:t>
            </a:r>
            <a:b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 учетом применения предложенного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4047230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11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3AFFF558-B6F3-4280-91E4-49CD43DC3B23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5692664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Итоги и результаты внедрения</a:t>
            </a: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11960" y="1707654"/>
            <a:ext cx="4793928" cy="921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5000" rIns="90000" bIns="45000">
            <a:spAutoFit/>
          </a:bodyPr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13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Оценка предполагаемого эффекта </a:t>
            </a:r>
            <a:b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 учетом применения предложенного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3160985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12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A762202A-C402-43A7-AB80-8DCCED36E359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53BC61C5-89C9-46F9-B8A5-5A0FF4F40D7A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5692664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Итоги и результаты внедрения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211960" y="1707654"/>
            <a:ext cx="4793928" cy="921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5000" rIns="90000" bIns="45000">
            <a:spAutoFit/>
          </a:bodyPr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13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Оценка предполагаемого эффекта </a:t>
            </a:r>
            <a:b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 учетом применения предложенного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1575665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54680-D6B2-34B9-655C-A795CE4BF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ABDE781-3554-F9FB-283D-034A6CF67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13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6C77C07-DB56-81AD-81C3-E2210EBACFB8}"/>
              </a:ext>
            </a:extLst>
          </p:cNvPr>
          <p:cNvSpPr txBox="1">
            <a:spLocks/>
          </p:cNvSpPr>
          <p:nvPr/>
        </p:nvSpPr>
        <p:spPr bwMode="auto">
          <a:xfrm>
            <a:off x="323528" y="1686777"/>
            <a:ext cx="3435016" cy="1861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Font typeface="Arial" charset="0"/>
              <a:buNone/>
            </a:pP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На данном слайде </a:t>
            </a:r>
            <a:r>
              <a:rPr lang="ru-RU" altLang="ru-RU" sz="2000" u="sng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рекомендуется </a:t>
            </a:r>
            <a:r>
              <a:rPr lang="ru-RU" altLang="ru-RU" sz="2000" spc="20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презентовать:</a:t>
            </a:r>
          </a:p>
        </p:txBody>
      </p:sp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AED59EE1-401E-22FE-FF8D-0A886FA21968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5692664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4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Источники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12F8D75-1138-76F8-A3D7-7025A1AE5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1960" y="1707654"/>
            <a:ext cx="4793928" cy="921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0000" tIns="45000" rIns="90000" bIns="45000">
            <a:spAutoFit/>
          </a:bodyPr>
          <a:lstStyle>
            <a:lvl1pPr marL="285750" indent="-285750">
              <a:lnSpc>
                <a:spcPct val="83000"/>
              </a:lnSpc>
              <a:spcBef>
                <a:spcPts val="142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1pPr>
            <a:lvl2pPr>
              <a:lnSpc>
                <a:spcPct val="83000"/>
              </a:lnSpc>
              <a:spcBef>
                <a:spcPts val="113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2pPr>
            <a:lvl3pPr>
              <a:lnSpc>
                <a:spcPct val="83000"/>
              </a:lnSpc>
              <a:spcBef>
                <a:spcPts val="863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3pPr>
            <a:lvl4pPr>
              <a:lnSpc>
                <a:spcPct val="83000"/>
              </a:lnSpc>
              <a:spcBef>
                <a:spcPts val="575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4pPr>
            <a:lvl5pPr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5pPr>
            <a:lvl6pPr marL="25146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6pPr>
            <a:lvl7pPr marL="29718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7pPr>
            <a:lvl8pPr marL="34290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8pPr>
            <a:lvl9pPr marL="3886200" indent="-228600" eaLnBrk="0" fontAlgn="base" hangingPunct="0">
              <a:lnSpc>
                <a:spcPct val="83000"/>
              </a:lnSpc>
              <a:spcBef>
                <a:spcPts val="288"/>
              </a:spcBef>
              <a:spcAft>
                <a:spcPts val="13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cs typeface="DejaVu Sans" charset="0"/>
              </a:defRPr>
            </a:lvl9pPr>
          </a:lstStyle>
          <a:p>
            <a:pPr eaLnBrk="1">
              <a:lnSpc>
                <a:spcPct val="100000"/>
              </a:lnSpc>
              <a:spcBef>
                <a:spcPts val="13"/>
              </a:spcBef>
              <a:buClr>
                <a:srgbClr val="0166B3"/>
              </a:buClr>
              <a:buFont typeface="Arial" panose="020B0604020202020204" pitchFamily="34" charset="0"/>
              <a:buChar char="•"/>
            </a:pP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Оценка предполагаемого эффекта </a:t>
            </a:r>
            <a:b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altLang="ru-RU" sz="1800" dirty="0">
                <a:latin typeface="Arial" panose="020B0604020202020204" pitchFamily="34" charset="0"/>
                <a:cs typeface="Arial" panose="020B0604020202020204" pitchFamily="34" charset="0"/>
              </a:rPr>
              <a:t>с учетом применения предложенного решения.</a:t>
            </a:r>
          </a:p>
        </p:txBody>
      </p:sp>
    </p:spTree>
    <p:extLst>
      <p:ext uri="{BB962C8B-B14F-4D97-AF65-F5344CB8AC3E}">
        <p14:creationId xmlns:p14="http://schemas.microsoft.com/office/powerpoint/2010/main" val="3317676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Объект 2">
            <a:extLst>
              <a:ext uri="{FF2B5EF4-FFF2-40B4-BE49-F238E27FC236}">
                <a16:creationId xmlns:a16="http://schemas.microsoft.com/office/drawing/2014/main" id="{6A11888E-22F9-4B42-AE59-08E770309D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80" y="1012908"/>
            <a:ext cx="8613800" cy="600164"/>
          </a:xfrm>
        </p:spPr>
        <p:txBody>
          <a:bodyPr/>
          <a:lstStyle/>
          <a:p>
            <a:pPr marL="0" indent="0" eaLnBrk="1" hangingPunct="1">
              <a:spcBef>
                <a:spcPts val="1200"/>
              </a:spcBef>
              <a:spcAft>
                <a:spcPts val="1200"/>
              </a:spcAft>
              <a:buClr>
                <a:srgbClr val="0166B3"/>
              </a:buClr>
              <a:buNone/>
            </a:pPr>
            <a:r>
              <a:rPr lang="ru-RU" altLang="ru-RU" sz="20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Свое решение представила команда «Ом уполномочен заявить» в составе: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11D26829-74B4-4819-BC82-76B4C96ADE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98" t="29701" r="39723" b="22700"/>
          <a:stretch/>
        </p:blipFill>
        <p:spPr>
          <a:xfrm>
            <a:off x="401442" y="1697427"/>
            <a:ext cx="1728192" cy="1728192"/>
          </a:xfrm>
          <a:prstGeom prst="ellipse">
            <a:avLst/>
          </a:prstGeom>
        </p:spPr>
      </p:pic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1409290-CF8E-4F7A-8B3F-3A89452FE030}"/>
              </a:ext>
            </a:extLst>
          </p:cNvPr>
          <p:cNvSpPr/>
          <p:nvPr/>
        </p:nvSpPr>
        <p:spPr>
          <a:xfrm>
            <a:off x="343921" y="4086240"/>
            <a:ext cx="182978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Коротко об участнике: какие задачи решал, опыт участия в аналогичных проектах, вклад </a:t>
            </a:r>
          </a:p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 решение кейса</a:t>
            </a:r>
            <a:endParaRPr lang="ru-RU" sz="1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92F20D05-2EAC-456C-ACF7-EFB76AEB8A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98" t="29701" r="39723" b="22700"/>
          <a:stretch/>
        </p:blipFill>
        <p:spPr>
          <a:xfrm>
            <a:off x="2553808" y="1697427"/>
            <a:ext cx="1728192" cy="1728192"/>
          </a:xfrm>
          <a:prstGeom prst="ellipse">
            <a:avLst/>
          </a:prstGeom>
        </p:spPr>
      </p:pic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33E0750F-F1D8-4569-A63A-0C9350B15A22}"/>
              </a:ext>
            </a:extLst>
          </p:cNvPr>
          <p:cNvSpPr/>
          <p:nvPr/>
        </p:nvSpPr>
        <p:spPr>
          <a:xfrm>
            <a:off x="2496287" y="4086240"/>
            <a:ext cx="182978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Коротко об участнике: какие задачи решал, опыт участия в аналогичных проектах, вклад </a:t>
            </a:r>
          </a:p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 решение кейса</a:t>
            </a:r>
            <a:endParaRPr lang="ru-RU" sz="1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640F9A6-7224-4731-B008-4838C9E2D4F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98" t="29701" r="39723" b="22700"/>
          <a:stretch/>
        </p:blipFill>
        <p:spPr>
          <a:xfrm>
            <a:off x="4706174" y="1697427"/>
            <a:ext cx="1728192" cy="1728192"/>
          </a:xfrm>
          <a:prstGeom prst="ellipse">
            <a:avLst/>
          </a:prstGeom>
        </p:spPr>
      </p:pic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6ACEBE57-6B88-4E5A-A227-85286B52A1A6}"/>
              </a:ext>
            </a:extLst>
          </p:cNvPr>
          <p:cNvSpPr/>
          <p:nvPr/>
        </p:nvSpPr>
        <p:spPr>
          <a:xfrm>
            <a:off x="4648653" y="4086240"/>
            <a:ext cx="182978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Коротко об участнике: какие задачи решал, опыт участия в аналогичных проектах, вклад </a:t>
            </a:r>
          </a:p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 решение кейса</a:t>
            </a:r>
            <a:endParaRPr lang="ru-RU" sz="1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E06418EC-1279-46CD-A197-EB5EBBFE2CB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398" t="29701" r="39723" b="22700"/>
          <a:stretch/>
        </p:blipFill>
        <p:spPr>
          <a:xfrm>
            <a:off x="6858541" y="1697427"/>
            <a:ext cx="1728192" cy="1728192"/>
          </a:xfrm>
          <a:prstGeom prst="ellipse">
            <a:avLst/>
          </a:prstGeom>
        </p:spPr>
      </p:pic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FA7A0BD3-9F1E-4714-A85F-CE15041055A4}"/>
              </a:ext>
            </a:extLst>
          </p:cNvPr>
          <p:cNvSpPr/>
          <p:nvPr/>
        </p:nvSpPr>
        <p:spPr>
          <a:xfrm>
            <a:off x="6801020" y="4086240"/>
            <a:ext cx="1829781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Коротко об участнике: какие задачи решал, опыт участия в аналогичных проектах, вклад </a:t>
            </a:r>
          </a:p>
          <a:p>
            <a:r>
              <a:rPr lang="ru-RU" sz="10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в решение кейса</a:t>
            </a:r>
            <a:endParaRPr lang="ru-RU" sz="10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3" name="Номер слайда 1"/>
          <p:cNvSpPr>
            <a:spLocks noGrp="1"/>
          </p:cNvSpPr>
          <p:nvPr>
            <p:ph type="sldNum" sz="quarter" idx="12"/>
          </p:nvPr>
        </p:nvSpPr>
        <p:spPr>
          <a:xfrm>
            <a:off x="8625296" y="4779963"/>
            <a:ext cx="333400" cy="273844"/>
          </a:xfrm>
        </p:spPr>
        <p:txBody>
          <a:bodyPr/>
          <a:lstStyle/>
          <a:p>
            <a:fld id="{1C0A57E3-EA23-4E01-B1DF-72CA8D4A16E5}" type="slidenum">
              <a:rPr lang="ru-RU" altLang="ru-RU" sz="1050" smtClean="0">
                <a:solidFill>
                  <a:schemeClr val="tx1"/>
                </a:solidFill>
                <a:latin typeface="Arial Narrow" panose="020B0606020202030204" pitchFamily="34" charset="0"/>
              </a:rPr>
              <a:pPr/>
              <a:t>14</a:t>
            </a:fld>
            <a:endParaRPr lang="ru-RU" altLang="ru-RU" sz="1000" dirty="0">
              <a:solidFill>
                <a:schemeClr val="tx1"/>
              </a:solidFill>
              <a:latin typeface="Arial Narrow" panose="020B0606020202030204" pitchFamily="34" charset="0"/>
            </a:endParaRPr>
          </a:p>
        </p:txBody>
      </p:sp>
      <p:sp>
        <p:nvSpPr>
          <p:cNvPr id="44" name="Заголовок 1">
            <a:extLst>
              <a:ext uri="{FF2B5EF4-FFF2-40B4-BE49-F238E27FC236}">
                <a16:creationId xmlns:a16="http://schemas.microsoft.com/office/drawing/2014/main" id="{53BC61C5-89C9-46F9-B8A5-5A0FF4F40D7A}"/>
              </a:ext>
            </a:extLst>
          </p:cNvPr>
          <p:cNvSpPr txBox="1">
            <a:spLocks/>
          </p:cNvSpPr>
          <p:nvPr/>
        </p:nvSpPr>
        <p:spPr bwMode="auto">
          <a:xfrm>
            <a:off x="319496" y="213364"/>
            <a:ext cx="5692664" cy="711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l" eaLnBrk="1" hangingPunct="1"/>
            <a:r>
              <a:rPr lang="ru-RU" altLang="ru-RU" sz="2000" b="1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«Спасибо за внимание!»</a:t>
            </a:r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195486"/>
            <a:ext cx="3495675" cy="600075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9A0C4A5-FA11-56F1-E6E0-02237ECE9AB2}"/>
              </a:ext>
            </a:extLst>
          </p:cNvPr>
          <p:cNvSpPr/>
          <p:nvPr/>
        </p:nvSpPr>
        <p:spPr>
          <a:xfrm>
            <a:off x="343920" y="3510142"/>
            <a:ext cx="20839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Матвей Никифоров</a:t>
            </a:r>
          </a:p>
          <a:p>
            <a:r>
              <a:rPr lang="ru-RU" sz="12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Капитан команды</a:t>
            </a:r>
            <a:endParaRPr lang="ru-RU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935E706-749E-308B-1206-582EC6122E1D}"/>
              </a:ext>
            </a:extLst>
          </p:cNvPr>
          <p:cNvSpPr/>
          <p:nvPr/>
        </p:nvSpPr>
        <p:spPr>
          <a:xfrm>
            <a:off x="2496286" y="3510142"/>
            <a:ext cx="22188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Александр Белоусов</a:t>
            </a:r>
          </a:p>
          <a:p>
            <a:r>
              <a:rPr lang="ru-RU" sz="12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Роль в команде</a:t>
            </a:r>
            <a:endParaRPr lang="ru-RU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F3136B6-82A4-8F46-4703-1108768613D0}"/>
              </a:ext>
            </a:extLst>
          </p:cNvPr>
          <p:cNvSpPr/>
          <p:nvPr/>
        </p:nvSpPr>
        <p:spPr>
          <a:xfrm>
            <a:off x="4648652" y="3510142"/>
            <a:ext cx="168943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Курышкин Глеб</a:t>
            </a:r>
          </a:p>
          <a:p>
            <a:r>
              <a:rPr lang="ru-RU" sz="12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Роль в команде</a:t>
            </a:r>
            <a:endParaRPr lang="ru-RU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9C90B64-BDAD-23D1-B743-1BF908933B02}"/>
              </a:ext>
            </a:extLst>
          </p:cNvPr>
          <p:cNvSpPr/>
          <p:nvPr/>
        </p:nvSpPr>
        <p:spPr>
          <a:xfrm>
            <a:off x="6801019" y="3510142"/>
            <a:ext cx="18627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600" spc="20" dirty="0">
                <a:solidFill>
                  <a:srgbClr val="2E56A8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Демешко Кирилл</a:t>
            </a:r>
          </a:p>
          <a:p>
            <a:r>
              <a:rPr lang="ru-RU" sz="1200" spc="2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Роль в команде</a:t>
            </a:r>
            <a:endParaRPr lang="ru-RU" sz="1200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8128262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Шаблон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</Template>
  <TotalTime>3858</TotalTime>
  <Words>442</Words>
  <Application>Microsoft Office PowerPoint</Application>
  <PresentationFormat>Экран (16:9)</PresentationFormat>
  <Paragraphs>88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Arial Narrow</vt:lpstr>
      <vt:lpstr>Calibri</vt:lpstr>
      <vt:lpstr>Roboto</vt:lpstr>
      <vt:lpstr>Шаблон</vt:lpstr>
      <vt:lpstr>1_Шаблон</vt:lpstr>
      <vt:lpstr>Презентация PowerPoint</vt:lpstr>
      <vt:lpstr>Команда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РусГидро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Требования к структуре и формату презентаций бизнес кейсов</dc:title>
  <dc:creator>Леванковский</dc:creator>
  <cp:lastModifiedBy>ananas30012010@gmail.com</cp:lastModifiedBy>
  <cp:revision>281</cp:revision>
  <dcterms:created xsi:type="dcterms:W3CDTF">2013-07-08T05:17:23Z</dcterms:created>
  <dcterms:modified xsi:type="dcterms:W3CDTF">2026-09-16T15:45:28Z</dcterms:modified>
</cp:coreProperties>
</file>